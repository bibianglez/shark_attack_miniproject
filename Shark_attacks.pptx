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Poppins"/>
      <p:regular r:id="rId17"/>
      <p:bold r:id="rId18"/>
      <p:italic r:id="rId19"/>
      <p:boldItalic r:id="rId20"/>
    </p:embeddedFont>
    <p:embeddedFont>
      <p:font typeface="Poppins Medium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7exLr+Njqbbhkqp+JNwd0YooU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PoppinsMedium-bold.fntdata"/><Relationship Id="rId21" Type="http://schemas.openxmlformats.org/officeDocument/2006/relationships/font" Target="fonts/PoppinsMedium-regular.fntdata"/><Relationship Id="rId24" Type="http://schemas.openxmlformats.org/officeDocument/2006/relationships/font" Target="fonts/PoppinsMedium-boldItalic.fntdata"/><Relationship Id="rId23" Type="http://schemas.openxmlformats.org/officeDocument/2006/relationships/font" Target="fonts/Poppi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Poppins-regular.fntdata"/><Relationship Id="rId16" Type="http://schemas.openxmlformats.org/officeDocument/2006/relationships/font" Target="fonts/Montserrat-boldItalic.fntdata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434bab14b8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434bab14b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1dc9f7de4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e1dc9f7de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22b76cab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e22b76ca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22b76cab5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e22b76cab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1dc9f7de4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e1dc9f7de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1dc9f7de4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e1dc9f7de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1dc9f7de4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e1dc9f7de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So I guess people have become more aware and also more </a:t>
            </a:r>
            <a:r>
              <a:rPr lang="en"/>
              <a:t>respectful</a:t>
            </a:r>
            <a:r>
              <a:rPr lang="en"/>
              <a:t> with the marine eco system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34bab14b8_0_1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434bab14b8_0_1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434bab14b8_0_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34bab14b8_0_7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434bab14b8_0_7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434bab14b8_0_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434bab14b8_0_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434bab14b8_0_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434bab14b8_0_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434bab14b8_0_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434bab14b8_0_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434bab14b8_0_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434bab14b8_0_8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434bab14b8_0_8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434bab14b8_0_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434bab14b8_0_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434bab14b8_0_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434bab14b8_0_9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434bab14b8_0_9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434bab14b8_0_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434bab14b8_0_9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434bab14b8_0_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434bab14b8_0_9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434bab14b8_0_9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434bab14b8_0_9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434bab14b8_0_9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434bab14b8_0_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434bab14b8_0_10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434bab14b8_0_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434bab14b8_0_10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434bab14b8_0_10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434bab14b8_0_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34bab14b8_0_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434bab14b8_0_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434bab14b8_0_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434bab14b8_0_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34bab14b8_0_60"/>
          <p:cNvSpPr txBox="1"/>
          <p:nvPr/>
        </p:nvSpPr>
        <p:spPr>
          <a:xfrm>
            <a:off x="3992025" y="2706825"/>
            <a:ext cx="41277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9" name="Google Shape;59;g3434bab14b8_0_60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g3434bab14b8_0_60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434bab14b8_0_60"/>
          <p:cNvSpPr txBox="1"/>
          <p:nvPr/>
        </p:nvSpPr>
        <p:spPr>
          <a:xfrm>
            <a:off x="493425" y="4582800"/>
            <a:ext cx="36033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5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Shark </a:t>
            </a:r>
            <a:endParaRPr sz="5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5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attacks</a:t>
            </a:r>
            <a:endParaRPr b="0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Everything you need to know</a:t>
            </a:r>
            <a:endParaRPr b="1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DC5F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2DC5F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g3434bab14b8_0_60"/>
          <p:cNvSpPr txBox="1"/>
          <p:nvPr/>
        </p:nvSpPr>
        <p:spPr>
          <a:xfrm>
            <a:off x="6661125" y="4278900"/>
            <a:ext cx="19215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By Zidene Aourdache and Bibian Gonzalez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3" name="Google Shape;63;g3434bab14b8_0_60"/>
          <p:cNvSpPr txBox="1"/>
          <p:nvPr/>
        </p:nvSpPr>
        <p:spPr>
          <a:xfrm>
            <a:off x="3909950" y="1786775"/>
            <a:ext cx="50016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3F3F3"/>
                </a:solidFill>
                <a:latin typeface="Poppins"/>
                <a:ea typeface="Poppins"/>
                <a:cs typeface="Poppins"/>
                <a:sym typeface="Poppins"/>
              </a:rPr>
              <a:t>Statistics to decide where to travel making decisions based in actual facts - safe traveling is our main goal</a:t>
            </a:r>
            <a:endParaRPr sz="1300">
              <a:solidFill>
                <a:srgbClr val="F3F3F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3F3F3"/>
                </a:solidFill>
                <a:latin typeface="Poppins"/>
                <a:ea typeface="Poppins"/>
                <a:cs typeface="Poppins"/>
                <a:sym typeface="Poppins"/>
              </a:rPr>
              <a:t>     - We do the investigation, you enjoy your vacation -</a:t>
            </a:r>
            <a:endParaRPr sz="1300">
              <a:solidFill>
                <a:srgbClr val="F3F3F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1dc9f7de4_0_10"/>
          <p:cNvSpPr txBox="1"/>
          <p:nvPr/>
        </p:nvSpPr>
        <p:spPr>
          <a:xfrm>
            <a:off x="4477950" y="2826425"/>
            <a:ext cx="41277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8E6FF"/>
                </a:solidFill>
              </a:rPr>
              <a:t>We present you: statistic you can trust to make </a:t>
            </a:r>
            <a:r>
              <a:rPr lang="en" sz="1800">
                <a:solidFill>
                  <a:srgbClr val="98E6FF"/>
                </a:solidFill>
              </a:rPr>
              <a:t>decisions</a:t>
            </a:r>
            <a:r>
              <a:rPr lang="en" sz="1800">
                <a:solidFill>
                  <a:srgbClr val="98E6FF"/>
                </a:solidFill>
              </a:rPr>
              <a:t> based in facts (and not some made-up experience you might have seen in socials)</a:t>
            </a:r>
            <a:endParaRPr sz="1800">
              <a:solidFill>
                <a:srgbClr val="98E6FF"/>
              </a:solidFill>
            </a:endParaRPr>
          </a:p>
        </p:txBody>
      </p:sp>
      <p:sp>
        <p:nvSpPr>
          <p:cNvPr id="69" name="Google Shape;69;g3e1dc9f7de4_0_10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g3e1dc9f7de4_0_10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e1dc9f7de4_0_10"/>
          <p:cNvSpPr txBox="1"/>
          <p:nvPr/>
        </p:nvSpPr>
        <p:spPr>
          <a:xfrm>
            <a:off x="314000" y="336425"/>
            <a:ext cx="430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In a world where </a:t>
            </a:r>
            <a:r>
              <a:rPr lang="en" sz="1800">
                <a:solidFill>
                  <a:srgbClr val="FFFFFF"/>
                </a:solidFill>
              </a:rPr>
              <a:t>uncertainty hits harder when you get out of our comfort zone with your loved ones</a:t>
            </a:r>
            <a:r>
              <a:rPr lang="en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22b76cab5_0_0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g3e22b76cab5_0_0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e22b76cab5_0_0"/>
          <p:cNvSpPr txBox="1"/>
          <p:nvPr/>
        </p:nvSpPr>
        <p:spPr>
          <a:xfrm>
            <a:off x="807400" y="254175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79" name="Google Shape;79;g3e22b76cab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9677" y="1457825"/>
            <a:ext cx="5489425" cy="35407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e22b76cab5_0_0"/>
          <p:cNvSpPr txBox="1"/>
          <p:nvPr/>
        </p:nvSpPr>
        <p:spPr>
          <a:xfrm>
            <a:off x="457200" y="254175"/>
            <a:ext cx="48285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3F3F3"/>
                </a:solidFill>
              </a:rPr>
              <a:t>Here we can see the top 10 countries with the greatest amount of attacks, including the deadly ones but also the ones that were just minor injuries</a:t>
            </a:r>
            <a:endParaRPr sz="16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2b76cab5_0_10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g3e22b76cab5_0_10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e22b76cab5_0_10"/>
          <p:cNvSpPr txBox="1"/>
          <p:nvPr/>
        </p:nvSpPr>
        <p:spPr>
          <a:xfrm>
            <a:off x="179425" y="373800"/>
            <a:ext cx="4306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u="sng">
                <a:solidFill>
                  <a:srgbClr val="FFFFFF"/>
                </a:solidFill>
              </a:rPr>
              <a:t>Fatal vs non-fatal attacks</a:t>
            </a:r>
            <a:endParaRPr sz="1900" u="sng">
              <a:solidFill>
                <a:srgbClr val="FFFFFF"/>
              </a:solidFill>
            </a:endParaRPr>
          </a:p>
        </p:txBody>
      </p:sp>
      <p:pic>
        <p:nvPicPr>
          <p:cNvPr id="88" name="Google Shape;88;g3e22b76cab5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0050" y="512725"/>
            <a:ext cx="2918975" cy="37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e22b76cab5_0_10"/>
          <p:cNvSpPr txBox="1"/>
          <p:nvPr/>
        </p:nvSpPr>
        <p:spPr>
          <a:xfrm>
            <a:off x="0" y="2115725"/>
            <a:ext cx="3633300" cy="28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</a:rPr>
              <a:t>Here you can see the difference between the deadly attacks vs the ones that were just injuries. Just 3 countries have registered deadly </a:t>
            </a:r>
            <a:r>
              <a:rPr lang="en" sz="1700">
                <a:solidFill>
                  <a:srgbClr val="FFFFFF"/>
                </a:solidFill>
              </a:rPr>
              <a:t>encounters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1dc9f7de4_0_27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g3e1dc9f7de4_0_27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e1dc9f7de4_0_27"/>
          <p:cNvSpPr txBox="1"/>
          <p:nvPr/>
        </p:nvSpPr>
        <p:spPr>
          <a:xfrm>
            <a:off x="403700" y="343900"/>
            <a:ext cx="456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3F3F3"/>
                </a:solidFill>
              </a:rPr>
              <a:t>Countries you definitely will want to avoid to do water-based sports</a:t>
            </a:r>
            <a:endParaRPr sz="1800">
              <a:solidFill>
                <a:srgbClr val="F3F3F3"/>
              </a:solidFill>
            </a:endParaRPr>
          </a:p>
        </p:txBody>
      </p:sp>
      <p:pic>
        <p:nvPicPr>
          <p:cNvPr id="97" name="Google Shape;97;g3e1dc9f7de4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5850" y="1896950"/>
            <a:ext cx="5260226" cy="290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1dc9f7de4_0_35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g3e1dc9f7de4_0_35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e1dc9f7de4_0_35"/>
          <p:cNvSpPr txBox="1"/>
          <p:nvPr/>
        </p:nvSpPr>
        <p:spPr>
          <a:xfrm>
            <a:off x="265800" y="276625"/>
            <a:ext cx="616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3F3F3"/>
                </a:solidFill>
              </a:rPr>
              <a:t>Most dangerous sports when it comes to shark attacks</a:t>
            </a:r>
            <a:endParaRPr sz="1800">
              <a:solidFill>
                <a:srgbClr val="F3F3F3"/>
              </a:solidFill>
            </a:endParaRPr>
          </a:p>
        </p:txBody>
      </p:sp>
      <p:pic>
        <p:nvPicPr>
          <p:cNvPr id="105" name="Google Shape;105;g3e1dc9f7de4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9925" y="1237275"/>
            <a:ext cx="4721976" cy="35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e1dc9f7de4_0_35"/>
          <p:cNvSpPr txBox="1"/>
          <p:nvPr/>
        </p:nvSpPr>
        <p:spPr>
          <a:xfrm>
            <a:off x="239225" y="2362425"/>
            <a:ext cx="2728800" cy="23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3F3F3"/>
                </a:solidFill>
              </a:rPr>
              <a:t>More than the half of the attacks happened during those activities </a:t>
            </a:r>
            <a:endParaRPr sz="1800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3F3F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Char char="-"/>
            </a:pPr>
            <a:r>
              <a:rPr lang="en" sz="1800">
                <a:solidFill>
                  <a:srgbClr val="F3F3F3"/>
                </a:solidFill>
              </a:rPr>
              <a:t>Surfing</a:t>
            </a:r>
            <a:endParaRPr sz="1800">
              <a:solidFill>
                <a:srgbClr val="F3F3F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Char char="-"/>
            </a:pPr>
            <a:r>
              <a:rPr lang="en" sz="1800">
                <a:solidFill>
                  <a:srgbClr val="F3F3F3"/>
                </a:solidFill>
              </a:rPr>
              <a:t>Swimming</a:t>
            </a:r>
            <a:endParaRPr sz="1800">
              <a:solidFill>
                <a:srgbClr val="F3F3F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Char char="-"/>
            </a:pPr>
            <a:r>
              <a:rPr lang="en" sz="1800">
                <a:solidFill>
                  <a:srgbClr val="F3F3F3"/>
                </a:solidFill>
              </a:rPr>
              <a:t>Diving</a:t>
            </a:r>
            <a:endParaRPr sz="18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1dc9f7de4_0_60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e1dc9f7de4_0_60"/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e1dc9f7de4_0_60"/>
          <p:cNvSpPr txBox="1"/>
          <p:nvPr/>
        </p:nvSpPr>
        <p:spPr>
          <a:xfrm>
            <a:off x="265800" y="276625"/>
            <a:ext cx="6410400" cy="461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3F3F3"/>
                </a:solidFill>
              </a:rPr>
              <a:t>How have they evolved over the years</a:t>
            </a:r>
            <a:endParaRPr sz="1800" u="sng">
              <a:solidFill>
                <a:srgbClr val="F3F3F3"/>
              </a:solidFill>
            </a:endParaRPr>
          </a:p>
        </p:txBody>
      </p:sp>
      <p:pic>
        <p:nvPicPr>
          <p:cNvPr id="114" name="Google Shape;114;g3e1dc9f7de4_0_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1775" y="1441850"/>
            <a:ext cx="4258450" cy="33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e1dc9f7de4_0_60"/>
          <p:cNvSpPr txBox="1"/>
          <p:nvPr/>
        </p:nvSpPr>
        <p:spPr>
          <a:xfrm>
            <a:off x="186900" y="2310100"/>
            <a:ext cx="2818500" cy="21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FEFEF"/>
                </a:solidFill>
              </a:rPr>
              <a:t>The decline of the attacks have decreased significantly during the last decade. P</a:t>
            </a:r>
            <a:r>
              <a:rPr lang="en" sz="1600">
                <a:solidFill>
                  <a:srgbClr val="EFEFEF"/>
                </a:solidFill>
              </a:rPr>
              <a:t>eople have become more aware and also more respectful with the marine eco system</a:t>
            </a:r>
            <a:endParaRPr sz="160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